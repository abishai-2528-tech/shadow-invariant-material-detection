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2" r:id="rId6"/>
    <p:sldId id="263" r:id="rId7"/>
    <p:sldId id="274" r:id="rId8"/>
    <p:sldId id="266" r:id="rId9"/>
    <p:sldId id="267" r:id="rId10"/>
    <p:sldId id="271" r:id="rId11"/>
    <p:sldId id="272" r:id="rId12"/>
    <p:sldId id="273" r:id="rId13"/>
    <p:sldId id="265" r:id="rId14"/>
    <p:sldId id="268" r:id="rId15"/>
    <p:sldId id="269" r:id="rId16"/>
    <p:sldId id="270" r:id="rId17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265" autoAdjust="0"/>
    <p:restoredTop sz="94660"/>
  </p:normalViewPr>
  <p:slideViewPr>
    <p:cSldViewPr>
      <p:cViewPr varScale="1">
        <p:scale>
          <a:sx n="103" d="100"/>
          <a:sy n="103" d="100"/>
        </p:scale>
        <p:origin x="293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2:21.860"/>
    </inkml:context>
    <inkml:brush xml:id="br0">
      <inkml:brushProperty name="width" value="0.3" units="cm"/>
      <inkml:brushProperty name="height" value="0.6" units="cm"/>
      <inkml:brushProperty name="color" value="#2B11E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2:21.905"/>
    </inkml:context>
    <inkml:brush xml:id="br0">
      <inkml:brushProperty name="width" value="0.3" units="cm"/>
      <inkml:brushProperty name="height" value="0.6" units="cm"/>
      <inkml:brushProperty name="color" value="#FA0E0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2:21.90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5:21.624"/>
    </inkml:context>
    <inkml:brush xml:id="br0">
      <inkml:brushProperty name="width" value="0.3" units="cm"/>
      <inkml:brushProperty name="height" value="0.6" units="cm"/>
      <inkml:brushProperty name="color" value="#2B11E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5:21.625"/>
    </inkml:context>
    <inkml:brush xml:id="br0">
      <inkml:brushProperty name="width" value="0.3" units="cm"/>
      <inkml:brushProperty name="height" value="0.6" units="cm"/>
      <inkml:brushProperty name="color" value="#FA0E0E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5:21.626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6:15.517"/>
    </inkml:context>
    <inkml:brush xml:id="br0">
      <inkml:brushProperty name="width" value="0.3" units="cm"/>
      <inkml:brushProperty name="height" value="0.6" units="cm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19:27.386"/>
    </inkml:context>
    <inkml:brush xml:id="br0">
      <inkml:brushProperty name="width" value="0.3" units="cm"/>
      <inkml:brushProperty name="height" value="0.6" units="cm"/>
      <inkml:brushProperty name="color" value="#767171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06T06:20:09.789"/>
    </inkml:context>
    <inkml:brush xml:id="br0">
      <inkml:brushProperty name="width" value="0.3" units="cm"/>
      <inkml:brushProperty name="height" value="0.6" units="cm"/>
      <inkml:brushProperty name="color" value="#D9D9D9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4EEA5F-7BC9-4E81-ACED-3A6FDC487E49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2244F-CB31-4822-8019-772868C047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0143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78634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3580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805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625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2769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22244F-CB31-4822-8019-772868C047C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424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4D4E3-298B-704B-ADB9-711FD7FB2C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E9F92-B451-BDB2-384D-D5A492B25D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68B9DF-F3C8-EB52-CC81-B16DB4E03F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9550F3-121D-BD32-23F8-EAD842B66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BCFD0-2670-B602-3C2C-1B2C93F96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3668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50464-D18E-1AC2-4593-5E8B309C83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BF896D-FE99-E889-B20A-171F2262F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6DB1D7-E4B4-2A81-F178-1C92F7B5E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28F5CB-3A3C-A43E-B52D-2F11A5884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919660-CEEA-6FB9-57CC-1C7E6A350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5344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D17E0-B3E1-772D-FA7A-9C92A2074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CEE70-8676-0082-5DF2-58402BBFC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1EBA2-821F-E17A-F20C-7634B76DBA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ADA03C-0339-AB06-D0B4-DA08C5F0C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3C869A-619E-008B-1621-26996278B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6077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2E2DB-EAEB-E376-2636-12FEA7A0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FC677-1314-612F-0E59-A06F6F674E1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A8C430-E7EA-0CDD-E908-5615C37FC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F8F51A-9EE9-076C-0752-AD2CC82A1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0EEDF-01A5-7028-2024-A6200B72C5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5E1CA9-95FC-3656-4B18-E7912800F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8725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2111-5A71-349A-7DF6-C8B81CDD4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2B0D62-017F-CC53-44F1-C4AEFDBF76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B1CA4C-3B4B-D296-E8EC-E6741B3E80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D97923-7718-7845-A116-7A05BBE366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012F93-04FC-1F2A-EC55-F8485B16C9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C9A8EA-DF4A-C5F2-12F3-A44BD0E2DF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2A7B5B-CB87-272C-487E-96FA786AC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146DCE3-81D1-AB21-B589-C4681C9B9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8897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FAA2-E08D-5ACA-E54A-5CF03B8CA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CC323D-655B-C054-892D-F4882DEC47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4630C6-C8FF-DC33-6398-868A0140A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14FCF-1821-3C4F-AA24-AAA6D7B39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602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14D15D-FAC4-E3BB-215E-56FC64164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CCB7DA-CAF4-9AE2-EEA9-FD4272177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6580ED-E5E5-D47A-2BD6-C75C3588A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700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BF085E-4438-1B8D-F7C1-623C4DD55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EF0D-E0EB-C79A-0781-856D52BBA8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39A05-F926-06DE-7BE7-2F7B041DA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BD93E-1559-5CAE-BDA3-4A2E939BB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85DF51-089A-DDC3-2480-D4A82D33D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174E7E-1661-63EC-4F8E-DF01B51E09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4794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FB3C7-C93D-36C3-A756-19556B7CD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CA09F1-CC3F-2B5D-6563-0FB9CE8A09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823824-9C83-20A7-8593-C51C9B4FFB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F158C8-F2EF-6ECD-BCAA-28AAA6593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B42A7-69EA-56D4-4122-62E08AF68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6B213-CBAE-C104-CF0B-F5BBCDDD5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81914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0524-95E1-ED7B-57AA-293C8DA8FF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B55226-362E-FE4D-F9B5-E38207ECAE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90B4B-F252-B5B6-4167-87E5E2614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53066-8115-D4AF-86D0-92352F2F2C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FC413-F29F-1C56-B674-A6734F85E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07297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446B028-B8FC-9C48-09B7-2BCD221AAB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1C60F-FCB2-8E6B-16D1-F57E60E010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6FC96D-442E-D444-0AD7-72A1E4A24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881ED-AAC7-6E86-D738-E66AA0917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FCFD19-0802-8E7E-D3FC-62CC03818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7535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7D4539-7F30-3777-0083-1D8DA510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DCE8C1-3B55-6DA5-55CC-ED679A6680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C84E5-2043-EF0A-5A55-7A3BE422C1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EAD9B-B13D-B9B8-6431-C8CEF2F773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A14AF-6594-7751-27F4-E95E3E0FA2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73823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3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customXml" Target="../ink/ink1.xml"/><Relationship Id="rId10" Type="http://schemas.openxmlformats.org/officeDocument/2006/relationships/image" Target="../media/image7.png"/><Relationship Id="rId4" Type="http://schemas.openxmlformats.org/officeDocument/2006/relationships/image" Target="../media/image4.png"/><Relationship Id="rId9" Type="http://schemas.openxmlformats.org/officeDocument/2006/relationships/customXml" Target="../ink/ink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SC-1.mat" TargetMode="Externa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200.png"/><Relationship Id="rId3" Type="http://schemas.openxmlformats.org/officeDocument/2006/relationships/image" Target="../media/image19.png"/><Relationship Id="rId7" Type="http://schemas.openxmlformats.org/officeDocument/2006/relationships/customXml" Target="../ink/ink5.xml"/><Relationship Id="rId12" Type="http://schemas.openxmlformats.org/officeDocument/2006/relationships/customXml" Target="../ink/ink8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11" Type="http://schemas.openxmlformats.org/officeDocument/2006/relationships/customXml" Target="../ink/ink7.xml"/><Relationship Id="rId5" Type="http://schemas.openxmlformats.org/officeDocument/2006/relationships/customXml" Target="../ink/ink4.xml"/><Relationship Id="rId15" Type="http://schemas.openxmlformats.org/officeDocument/2006/relationships/image" Target="../media/image21.png"/><Relationship Id="rId10" Type="http://schemas.openxmlformats.org/officeDocument/2006/relationships/image" Target="../media/image7.png"/><Relationship Id="rId4" Type="http://schemas.openxmlformats.org/officeDocument/2006/relationships/image" Target="../media/image20.png"/><Relationship Id="rId9" Type="http://schemas.openxmlformats.org/officeDocument/2006/relationships/customXml" Target="../ink/ink6.xml"/><Relationship Id="rId14" Type="http://schemas.openxmlformats.org/officeDocument/2006/relationships/customXml" Target="../ink/ink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597001"/>
            <a:ext cx="9144000" cy="1132840"/>
          </a:xfrm>
          <a:custGeom>
            <a:avLst/>
            <a:gdLst/>
            <a:ahLst/>
            <a:cxnLst/>
            <a:rect l="l" t="t" r="r" b="b"/>
            <a:pathLst>
              <a:path w="9144000" h="1132840">
                <a:moveTo>
                  <a:pt x="9143999" y="1132799"/>
                </a:moveTo>
                <a:lnTo>
                  <a:pt x="0" y="1132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1132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375" y="1686254"/>
            <a:ext cx="8763000" cy="105150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403350" marR="5080" indent="-1391285" algn="ctr">
              <a:lnSpc>
                <a:spcPct val="101000"/>
              </a:lnSpc>
              <a:spcBef>
                <a:spcPts val="90"/>
              </a:spcBef>
            </a:pPr>
            <a:r>
              <a:rPr lang="en-US" sz="3400" b="1" dirty="0"/>
              <a:t>Shadow Invariant Material Detection Using Hyperspectral Images</a:t>
            </a:r>
            <a:endParaRPr sz="3400" b="1" spc="-10" dirty="0"/>
          </a:p>
        </p:txBody>
      </p:sp>
      <p:sp>
        <p:nvSpPr>
          <p:cNvPr id="4" name="object 4"/>
          <p:cNvSpPr txBox="1"/>
          <p:nvPr/>
        </p:nvSpPr>
        <p:spPr>
          <a:xfrm>
            <a:off x="1752600" y="2952750"/>
            <a:ext cx="5638800" cy="1748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100"/>
              </a:spcBef>
            </a:pPr>
            <a:r>
              <a:rPr lang="en-IN" sz="1700" b="1" spc="-25" dirty="0">
                <a:latin typeface="Arial MT"/>
                <a:cs typeface="Arial MT"/>
              </a:rPr>
              <a:t>B</a:t>
            </a:r>
            <a:r>
              <a:rPr sz="1700" b="1" spc="-25" dirty="0">
                <a:latin typeface="Arial MT"/>
                <a:cs typeface="Arial MT"/>
              </a:rPr>
              <a:t>y</a:t>
            </a:r>
            <a:endParaRPr lang="en-IN" sz="1700" b="1" spc="-25" dirty="0">
              <a:latin typeface="Arial MT"/>
              <a:cs typeface="Arial MT"/>
            </a:endParaRPr>
          </a:p>
          <a:p>
            <a:pPr marL="635" algn="ctr">
              <a:lnSpc>
                <a:spcPct val="100000"/>
              </a:lnSpc>
              <a:spcBef>
                <a:spcPts val="100"/>
              </a:spcBef>
            </a:pPr>
            <a:endParaRPr sz="1700" b="1" dirty="0">
              <a:latin typeface="Arial MT"/>
              <a:cs typeface="Arial MT"/>
            </a:endParaRPr>
          </a:p>
          <a:p>
            <a:pPr algn="ctr">
              <a:lnSpc>
                <a:spcPct val="100000"/>
              </a:lnSpc>
            </a:pPr>
            <a:r>
              <a:rPr lang="en-IN" sz="1700" b="1" spc="-10" dirty="0">
                <a:latin typeface="Arial"/>
                <a:cs typeface="Arial"/>
              </a:rPr>
              <a:t>Kankipati Abishai(CS22B1030)</a:t>
            </a:r>
          </a:p>
          <a:p>
            <a:pPr>
              <a:lnSpc>
                <a:spcPct val="100000"/>
              </a:lnSpc>
              <a:spcBef>
                <a:spcPts val="940"/>
              </a:spcBef>
            </a:pPr>
            <a:endParaRPr lang="en-IN" sz="1700" b="1" dirty="0">
              <a:latin typeface="Arial"/>
              <a:cs typeface="Arial"/>
            </a:endParaRPr>
          </a:p>
          <a:p>
            <a:pPr marL="789940" marR="921385" indent="-635" algn="ctr">
              <a:lnSpc>
                <a:spcPct val="115300"/>
              </a:lnSpc>
            </a:pPr>
            <a:r>
              <a:rPr lang="en-IN" sz="1800" b="1" dirty="0">
                <a:latin typeface="Arial MT"/>
                <a:cs typeface="Arial MT"/>
              </a:rPr>
              <a:t>Research</a:t>
            </a:r>
            <a:r>
              <a:rPr lang="en-IN" sz="1800" b="1" spc="-40" dirty="0">
                <a:latin typeface="Arial MT"/>
                <a:cs typeface="Arial MT"/>
              </a:rPr>
              <a:t> </a:t>
            </a:r>
            <a:r>
              <a:rPr lang="en-IN" sz="1800" b="1" spc="-10" dirty="0">
                <a:latin typeface="Arial MT"/>
                <a:cs typeface="Arial MT"/>
              </a:rPr>
              <a:t>Supervisor </a:t>
            </a:r>
            <a:r>
              <a:rPr lang="en-IN" sz="1500" b="1" dirty="0">
                <a:latin typeface="Arial MT"/>
                <a:cs typeface="Arial MT"/>
              </a:rPr>
              <a:t>Dr</a:t>
            </a:r>
            <a:r>
              <a:rPr lang="en-IN" sz="1500" b="1" spc="-20" dirty="0">
                <a:latin typeface="Arial MT"/>
                <a:cs typeface="Arial MT"/>
              </a:rPr>
              <a:t> </a:t>
            </a:r>
            <a:r>
              <a:rPr lang="en-IN" sz="1500" b="1" spc="-10" dirty="0" err="1">
                <a:latin typeface="Arial MT"/>
                <a:cs typeface="Arial MT"/>
              </a:rPr>
              <a:t>Dubacharla</a:t>
            </a:r>
            <a:r>
              <a:rPr lang="en-IN" sz="1500" b="1" spc="-25" dirty="0">
                <a:latin typeface="Arial MT"/>
                <a:cs typeface="Arial MT"/>
              </a:rPr>
              <a:t> </a:t>
            </a:r>
            <a:r>
              <a:rPr lang="en-IN" sz="1500" b="1" spc="-10" dirty="0">
                <a:latin typeface="Arial MT"/>
                <a:cs typeface="Arial MT"/>
              </a:rPr>
              <a:t>Gyaneshwar Assistant</a:t>
            </a:r>
            <a:r>
              <a:rPr lang="en-IN" sz="1500" b="1" spc="-20" dirty="0">
                <a:latin typeface="Arial MT"/>
                <a:cs typeface="Arial MT"/>
              </a:rPr>
              <a:t> </a:t>
            </a:r>
            <a:r>
              <a:rPr lang="en-IN" sz="1500" b="1" spc="-10" dirty="0">
                <a:latin typeface="Arial MT"/>
                <a:cs typeface="Arial MT"/>
              </a:rPr>
              <a:t>professor</a:t>
            </a:r>
            <a:endParaRPr lang="en-IN" sz="1500" b="1" dirty="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0600" y="143516"/>
            <a:ext cx="6918550" cy="10988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4" y="1175208"/>
            <a:ext cx="4644476" cy="3439403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420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spc="-10" dirty="0">
                <a:latin typeface="Algerian" panose="04020705040A02060702" pitchFamily="82" charset="0"/>
                <a:cs typeface="Arial MT"/>
              </a:rPr>
              <a:t>Introduction</a:t>
            </a:r>
            <a:endParaRPr sz="2000" dirty="0">
              <a:latin typeface="Algerian" panose="04020705040A02060702" pitchFamily="82" charset="0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spc="-25" dirty="0">
                <a:latin typeface="Algerian" panose="04020705040A02060702" pitchFamily="82" charset="0"/>
                <a:cs typeface="Arial MT"/>
              </a:rPr>
              <a:t>Aim</a:t>
            </a:r>
            <a:endParaRPr sz="2000" dirty="0">
              <a:latin typeface="Algerian" panose="04020705040A02060702" pitchFamily="82" charset="0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lang="en-IN" sz="2000" spc="-10" dirty="0">
                <a:latin typeface="Algerian" panose="04020705040A02060702" pitchFamily="82" charset="0"/>
                <a:cs typeface="Arial MT"/>
              </a:rPr>
              <a:t>Dataset</a:t>
            </a:r>
            <a:endParaRPr sz="2000" dirty="0">
              <a:latin typeface="Algerian" panose="04020705040A02060702" pitchFamily="82" charset="0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spc="-10" dirty="0">
                <a:latin typeface="Algerian" panose="04020705040A02060702" pitchFamily="82" charset="0"/>
                <a:cs typeface="Arial MT"/>
              </a:rPr>
              <a:t>Methodology</a:t>
            </a:r>
            <a:endParaRPr sz="2000" dirty="0">
              <a:latin typeface="Algerian" panose="04020705040A02060702" pitchFamily="82" charset="0"/>
              <a:cs typeface="Arial MT"/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IN" sz="2000" dirty="0">
                <a:latin typeface="Algerian" panose="04020705040A02060702" pitchFamily="82" charset="0"/>
              </a:rPr>
              <a:t>  Project Pipeline</a:t>
            </a: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lang="en-IN" sz="2000" dirty="0">
                <a:latin typeface="Algerian" panose="04020705040A02060702" pitchFamily="82" charset="0"/>
                <a:cs typeface="Arial MT"/>
              </a:rPr>
              <a:t>Spectral Similarity Metrics</a:t>
            </a: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spc="-10" dirty="0">
                <a:latin typeface="Algerian" panose="04020705040A02060702" pitchFamily="82" charset="0"/>
                <a:cs typeface="Arial MT"/>
              </a:rPr>
              <a:t>Results</a:t>
            </a:r>
            <a:endParaRPr lang="en-IN" sz="2000" spc="-10" dirty="0">
              <a:latin typeface="Algerian" panose="04020705040A02060702" pitchFamily="82" charset="0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lang="en-IN" sz="2000" dirty="0">
                <a:latin typeface="Algerian" panose="04020705040A02060702" pitchFamily="82" charset="0"/>
                <a:cs typeface="Arial MT"/>
              </a:rPr>
              <a:t>Performance Metrics</a:t>
            </a:r>
            <a:endParaRPr sz="2000" dirty="0">
              <a:latin typeface="Algerian" panose="04020705040A02060702" pitchFamily="82" charset="0"/>
              <a:cs typeface="Arial MT"/>
            </a:endParaRP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dirty="0">
                <a:latin typeface="Algerian" panose="04020705040A02060702" pitchFamily="82" charset="0"/>
                <a:cs typeface="Arial MT"/>
              </a:rPr>
              <a:t>Challenges</a:t>
            </a:r>
          </a:p>
          <a:p>
            <a:pPr marL="469265" indent="-456565">
              <a:lnSpc>
                <a:spcPct val="100000"/>
              </a:lnSpc>
              <a:spcBef>
                <a:spcPts val="325"/>
              </a:spcBef>
              <a:buFont typeface="Wingdings" panose="05000000000000000000" pitchFamily="2" charset="2"/>
              <a:buChar char="v"/>
              <a:tabLst>
                <a:tab pos="469265" algn="l"/>
              </a:tabLst>
            </a:pPr>
            <a:r>
              <a:rPr sz="2000" spc="-10" dirty="0">
                <a:latin typeface="Algerian" panose="04020705040A02060702" pitchFamily="82" charset="0"/>
                <a:cs typeface="Arial MT"/>
              </a:rPr>
              <a:t>Conclusion</a:t>
            </a:r>
            <a:endParaRPr sz="2000" dirty="0">
              <a:latin typeface="Algerian" panose="04020705040A02060702" pitchFamily="82" charset="0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-4762" y="250812"/>
            <a:ext cx="9153525" cy="668655"/>
            <a:chOff x="-4762" y="250812"/>
            <a:chExt cx="9153525" cy="668655"/>
          </a:xfrm>
        </p:grpSpPr>
        <p:sp>
          <p:nvSpPr>
            <p:cNvPr id="4" name="object 4"/>
            <p:cNvSpPr/>
            <p:nvPr/>
          </p:nvSpPr>
          <p:spPr>
            <a:xfrm>
              <a:off x="0" y="255575"/>
              <a:ext cx="9144000" cy="659130"/>
            </a:xfrm>
            <a:custGeom>
              <a:avLst/>
              <a:gdLst/>
              <a:ahLst/>
              <a:cxnLst/>
              <a:rect l="l" t="t" r="r" b="b"/>
              <a:pathLst>
                <a:path w="9144000" h="659130">
                  <a:moveTo>
                    <a:pt x="9143999" y="658799"/>
                  </a:moveTo>
                  <a:lnTo>
                    <a:pt x="0" y="658799"/>
                  </a:lnTo>
                  <a:lnTo>
                    <a:pt x="0" y="0"/>
                  </a:lnTo>
                  <a:lnTo>
                    <a:pt x="9143999" y="0"/>
                  </a:lnTo>
                  <a:lnTo>
                    <a:pt x="9143999" y="658799"/>
                  </a:lnTo>
                  <a:close/>
                </a:path>
              </a:pathLst>
            </a:custGeom>
            <a:solidFill>
              <a:srgbClr val="A4C1F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255575"/>
              <a:ext cx="9144000" cy="659130"/>
            </a:xfrm>
            <a:custGeom>
              <a:avLst/>
              <a:gdLst/>
              <a:ahLst/>
              <a:cxnLst/>
              <a:rect l="l" t="t" r="r" b="b"/>
              <a:pathLst>
                <a:path w="9144000" h="659130">
                  <a:moveTo>
                    <a:pt x="0" y="0"/>
                  </a:moveTo>
                  <a:lnTo>
                    <a:pt x="9143999" y="0"/>
                  </a:lnTo>
                  <a:lnTo>
                    <a:pt x="9143999" y="658799"/>
                  </a:lnTo>
                  <a:lnTo>
                    <a:pt x="0" y="65879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A4C1F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2862" y="354307"/>
            <a:ext cx="9058276" cy="461665"/>
          </a:xfrm>
          <a:prstGeom prst="rect">
            <a:avLst/>
          </a:prstGeom>
          <a:solidFill>
            <a:srgbClr val="9FC5E7"/>
          </a:solidFill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3565"/>
              </a:lnSpc>
            </a:pPr>
            <a:r>
              <a:rPr b="1" spc="-10" dirty="0"/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70212" y="1139217"/>
            <a:ext cx="8403576" cy="143346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marR="280035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IN" sz="2000" dirty="0">
                <a:cs typeface="Arial MT"/>
              </a:rPr>
              <a:t>Hyperspectral images provide high spectral information for accurate material identification.</a:t>
            </a:r>
          </a:p>
          <a:p>
            <a:pPr marL="494665" marR="280035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IN" sz="2000" spc="-10" dirty="0">
                <a:cs typeface="Arial MT"/>
              </a:rPr>
              <a:t>Shadows introduce </a:t>
            </a:r>
            <a:r>
              <a:rPr lang="en-IN" sz="2000" dirty="0"/>
              <a:t>light</a:t>
            </a:r>
            <a:r>
              <a:rPr lang="en-IN" sz="2000" spc="-10" dirty="0">
                <a:cs typeface="Arial MT"/>
              </a:rPr>
              <a:t> variations that degrade classification performance</a:t>
            </a:r>
          </a:p>
          <a:p>
            <a:pPr marL="494665" marR="280035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US" sz="2000" spc="-10" dirty="0">
                <a:cs typeface="Arial MT"/>
              </a:rPr>
              <a:t>Traditional intensity-based methods fail under shadow conditions.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60763" y="308406"/>
            <a:ext cx="7200897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Introduction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4E39200-AF81-06D4-622D-55EA9C5A4C98}"/>
              </a:ext>
            </a:extLst>
          </p:cNvPr>
          <p:cNvSpPr txBox="1"/>
          <p:nvPr/>
        </p:nvSpPr>
        <p:spPr>
          <a:xfrm>
            <a:off x="1506124" y="3087961"/>
            <a:ext cx="1413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prstClr val="black"/>
                </a:solidFill>
                <a:latin typeface="Arial MT"/>
                <a:cs typeface="Arial MT"/>
              </a:rPr>
              <a:t>Material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90E97E1-F7E0-6FA2-800E-E151BA427DA9}"/>
              </a:ext>
            </a:extLst>
          </p:cNvPr>
          <p:cNvSpPr txBox="1"/>
          <p:nvPr/>
        </p:nvSpPr>
        <p:spPr>
          <a:xfrm>
            <a:off x="1143000" y="4123329"/>
            <a:ext cx="165692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000" dirty="0">
                <a:solidFill>
                  <a:prstClr val="black"/>
                </a:solidFill>
                <a:latin typeface="Arial MT"/>
                <a:cs typeface="Arial MT"/>
              </a:rPr>
              <a:t>Shadow</a:t>
            </a: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46B9069-C160-6391-FCE6-CD6599C6B61F}"/>
              </a:ext>
            </a:extLst>
          </p:cNvPr>
          <p:cNvSpPr txBox="1"/>
          <p:nvPr/>
        </p:nvSpPr>
        <p:spPr>
          <a:xfrm>
            <a:off x="5634153" y="3397770"/>
            <a:ext cx="205391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Non-Material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9A54E29-8004-0611-B1D6-B8A77EB1F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7003" y="2738127"/>
            <a:ext cx="2569316" cy="1869176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564A482-9D3D-1AA4-387B-D9EA595FC2E2}"/>
              </a:ext>
            </a:extLst>
          </p:cNvPr>
          <p:cNvCxnSpPr>
            <a:cxnSpLocks/>
          </p:cNvCxnSpPr>
          <p:nvPr/>
        </p:nvCxnSpPr>
        <p:spPr>
          <a:xfrm flipH="1">
            <a:off x="2594517" y="3921120"/>
            <a:ext cx="1672683" cy="33680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C1AE8A4-DF9D-E23B-BE96-457112170B2B}"/>
              </a:ext>
            </a:extLst>
          </p:cNvPr>
          <p:cNvCxnSpPr>
            <a:cxnSpLocks/>
          </p:cNvCxnSpPr>
          <p:nvPr/>
        </p:nvCxnSpPr>
        <p:spPr>
          <a:xfrm flipH="1" flipV="1">
            <a:off x="2919382" y="3413003"/>
            <a:ext cx="602326" cy="4426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6264B1BB-9255-36C4-B03D-CC9C97F46563}"/>
              </a:ext>
            </a:extLst>
          </p:cNvPr>
          <p:cNvCxnSpPr>
            <a:cxnSpLocks/>
          </p:cNvCxnSpPr>
          <p:nvPr/>
        </p:nvCxnSpPr>
        <p:spPr>
          <a:xfrm>
            <a:off x="4393484" y="2871245"/>
            <a:ext cx="1458589" cy="5265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850AB25C-BDB9-F447-B836-1443997135BB}"/>
              </a:ext>
            </a:extLst>
          </p:cNvPr>
          <p:cNvSpPr txBox="1"/>
          <p:nvPr/>
        </p:nvSpPr>
        <p:spPr>
          <a:xfrm>
            <a:off x="4058840" y="4658071"/>
            <a:ext cx="10047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1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4800" y="1032058"/>
            <a:ext cx="8025765" cy="1404872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507365" indent="-494665">
              <a:lnSpc>
                <a:spcPct val="100000"/>
              </a:lnSpc>
              <a:spcBef>
                <a:spcPts val="475"/>
              </a:spcBef>
              <a:buFont typeface="MS PGothic"/>
              <a:buChar char="➢"/>
              <a:tabLst>
                <a:tab pos="507365" algn="l"/>
              </a:tabLst>
            </a:pPr>
            <a:r>
              <a:rPr lang="en-US" sz="2100" dirty="0">
                <a:cs typeface="Arial MT"/>
              </a:rPr>
              <a:t>To develop a shadow-invariant material detection framework using hyperspectral images.</a:t>
            </a:r>
            <a:endParaRPr sz="2100" dirty="0">
              <a:cs typeface="Arial MT"/>
            </a:endParaRPr>
          </a:p>
          <a:p>
            <a:pPr marL="507365" indent="-494665">
              <a:lnSpc>
                <a:spcPct val="100000"/>
              </a:lnSpc>
              <a:spcBef>
                <a:spcPts val="380"/>
              </a:spcBef>
              <a:buFont typeface="MS PGothic"/>
              <a:buChar char="➢"/>
              <a:tabLst>
                <a:tab pos="507365" algn="l"/>
              </a:tabLst>
            </a:pPr>
            <a:r>
              <a:rPr lang="en-US" sz="2100" dirty="0">
                <a:cs typeface="Arial MT"/>
              </a:rPr>
              <a:t>To accurately separate shadow and material regions under varying </a:t>
            </a:r>
            <a:r>
              <a:rPr lang="en-IN" sz="2100" dirty="0"/>
              <a:t>light</a:t>
            </a:r>
            <a:r>
              <a:rPr lang="en-US" sz="2100" dirty="0">
                <a:cs typeface="Arial MT"/>
              </a:rPr>
              <a:t> conditions.</a:t>
            </a:r>
            <a:endParaRPr sz="2100" dirty="0"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71551" y="322889"/>
            <a:ext cx="7200897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25" dirty="0"/>
              <a:t>Aim</a:t>
            </a:r>
          </a:p>
        </p:txBody>
      </p:sp>
      <p:pic>
        <p:nvPicPr>
          <p:cNvPr id="15" name="Picture 14" descr="A close-up of a door&#10;&#10;AI-generated content may be incorrect.">
            <a:extLst>
              <a:ext uri="{FF2B5EF4-FFF2-40B4-BE49-F238E27FC236}">
                <a16:creationId xmlns:a16="http://schemas.microsoft.com/office/drawing/2014/main" id="{5B54D247-FC7C-87A8-6A69-6FFC994FB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559" y="2436930"/>
            <a:ext cx="3191141" cy="2405383"/>
          </a:xfrm>
          <a:prstGeom prst="rect">
            <a:avLst/>
          </a:prstGeom>
        </p:spPr>
      </p:pic>
      <p:pic>
        <p:nvPicPr>
          <p:cNvPr id="17" name="Picture 16" descr="A blue and red doorway&#10;&#10;AI-generated content may be incorrect.">
            <a:extLst>
              <a:ext uri="{FF2B5EF4-FFF2-40B4-BE49-F238E27FC236}">
                <a16:creationId xmlns:a16="http://schemas.microsoft.com/office/drawing/2014/main" id="{16139553-9DF3-61BD-62DF-8814323B9D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2439408"/>
            <a:ext cx="3223881" cy="240760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0ACA736-8E7E-E1D4-DB97-1BDD26942A04}"/>
              </a:ext>
            </a:extLst>
          </p:cNvPr>
          <p:cNvSpPr txBox="1"/>
          <p:nvPr/>
        </p:nvSpPr>
        <p:spPr>
          <a:xfrm>
            <a:off x="3657600" y="2952750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prstClr val="black"/>
                </a:solidFill>
                <a:latin typeface="Arial MT"/>
                <a:cs typeface="Arial MT"/>
              </a:rPr>
              <a:t>Shadow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181AD8-A476-3A93-E4D1-01B81A7485CE}"/>
              </a:ext>
            </a:extLst>
          </p:cNvPr>
          <p:cNvSpPr txBox="1"/>
          <p:nvPr/>
        </p:nvSpPr>
        <p:spPr>
          <a:xfrm>
            <a:off x="3733800" y="3418481"/>
            <a:ext cx="121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prstClr val="black"/>
                </a:solidFill>
                <a:latin typeface="Arial MT"/>
                <a:cs typeface="Arial MT"/>
              </a:rPr>
              <a:t>Material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EBD0AB-42E3-A27D-5D0C-46D232AFC220}"/>
              </a:ext>
            </a:extLst>
          </p:cNvPr>
          <p:cNvSpPr txBox="1"/>
          <p:nvPr/>
        </p:nvSpPr>
        <p:spPr>
          <a:xfrm>
            <a:off x="3733800" y="3884212"/>
            <a:ext cx="172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Non-Material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1ED8D07-400D-8A14-595E-FB9414E2EF20}"/>
                  </a:ext>
                </a:extLst>
              </p14:cNvPr>
              <p14:cNvContentPartPr/>
              <p14:nvPr/>
            </p14:nvContentPartPr>
            <p14:xfrm>
              <a:off x="3762001" y="314175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1ED8D07-400D-8A14-595E-FB9414E2EF2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08001" y="3033756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8E9E097-1D8E-AE3B-7FB2-53F2F5666D5A}"/>
                  </a:ext>
                </a:extLst>
              </p14:cNvPr>
              <p14:cNvContentPartPr/>
              <p14:nvPr/>
            </p14:nvContentPartPr>
            <p14:xfrm>
              <a:off x="3762001" y="3603147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8E9E097-1D8E-AE3B-7FB2-53F2F5666D5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708001" y="3495147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74E9422F-3826-D2D8-5B17-47DDC94E3DD7}"/>
                  </a:ext>
                </a:extLst>
              </p14:cNvPr>
              <p14:cNvContentPartPr/>
              <p14:nvPr/>
            </p14:nvContentPartPr>
            <p14:xfrm>
              <a:off x="3762001" y="4068878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4E9422F-3826-D2D8-5B17-47DDC94E3DD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708001" y="3960878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A70372A3-5AB6-EC89-0480-9F948715433C}"/>
              </a:ext>
            </a:extLst>
          </p:cNvPr>
          <p:cNvSpPr txBox="1"/>
          <p:nvPr/>
        </p:nvSpPr>
        <p:spPr>
          <a:xfrm>
            <a:off x="914400" y="4784834"/>
            <a:ext cx="106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2a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C5B9BF-3EC9-B6A9-70CD-8C04D64B044F}"/>
              </a:ext>
            </a:extLst>
          </p:cNvPr>
          <p:cNvSpPr txBox="1"/>
          <p:nvPr/>
        </p:nvSpPr>
        <p:spPr>
          <a:xfrm>
            <a:off x="6679240" y="4784834"/>
            <a:ext cx="1143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2b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72785" y="276160"/>
            <a:ext cx="7200897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dirty="0"/>
              <a:t>Dataset</a:t>
            </a:r>
            <a:r>
              <a:rPr lang="en-IN" b="1" spc="-15" dirty="0"/>
              <a:t>s</a:t>
            </a:r>
            <a:endParaRPr b="1" spc="-2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8276FD-8BDD-0865-D61C-11779440861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6800" y="1504337"/>
            <a:ext cx="2231672" cy="22225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48D887-25D8-6E5E-1C3C-BFF5116CBD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0" y="1501110"/>
            <a:ext cx="2231672" cy="222861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DA1F8-268D-43AE-3F2A-76E8C73BFB91}"/>
              </a:ext>
            </a:extLst>
          </p:cNvPr>
          <p:cNvSpPr txBox="1"/>
          <p:nvPr/>
        </p:nvSpPr>
        <p:spPr>
          <a:xfrm>
            <a:off x="304800" y="1065151"/>
            <a:ext cx="33443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Training Image: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9F3632-F343-CFFE-BE05-0A681E26A390}"/>
              </a:ext>
            </a:extLst>
          </p:cNvPr>
          <p:cNvSpPr txBox="1"/>
          <p:nvPr/>
        </p:nvSpPr>
        <p:spPr>
          <a:xfrm>
            <a:off x="4953000" y="1068961"/>
            <a:ext cx="334434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Testing Image:</a:t>
            </a:r>
            <a:endParaRPr lang="en-IN" sz="20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311409D-81A0-48A7-8459-4D66283CEC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8138551"/>
              </p:ext>
            </p:extLst>
          </p:nvPr>
        </p:nvGraphicFramePr>
        <p:xfrm>
          <a:off x="9293" y="4072625"/>
          <a:ext cx="9144000" cy="106680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572000">
                  <a:extLst>
                    <a:ext uri="{9D8B030D-6E8A-4147-A177-3AD203B41FA5}">
                      <a16:colId xmlns:a16="http://schemas.microsoft.com/office/drawing/2014/main" val="3988763314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441649290"/>
                    </a:ext>
                  </a:extLst>
                </a:gridCol>
              </a:tblGrid>
              <a:tr h="939156"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The training hyperspectral image used for collecting shadow and material spectral samples. Pseudo-RGB visualization helps in manual pixel selection for accurate ground truth labeling.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The testing hyperspectral image used to evaluate the trained model and adaptive thresholds under unseen shadow and </a:t>
                      </a:r>
                      <a:r>
                        <a:rPr lang="en-IN" sz="1600" b="1" kern="1200" dirty="0">
                          <a:solidFill>
                            <a:schemeClr val="tx1"/>
                          </a:solidFill>
                          <a:effectLst/>
                        </a:rPr>
                        <a:t>light</a:t>
                      </a:r>
                      <a:r>
                        <a:rPr lang="en-US" sz="1600" b="1" dirty="0">
                          <a:solidFill>
                            <a:schemeClr val="tx1"/>
                          </a:solidFill>
                        </a:rPr>
                        <a:t> conditions.</a:t>
                      </a:r>
                      <a:endParaRPr lang="en-IN" sz="16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364280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97F6086-CB8C-BB95-72D8-83CAF606F0E4}"/>
              </a:ext>
            </a:extLst>
          </p:cNvPr>
          <p:cNvSpPr txBox="1"/>
          <p:nvPr/>
        </p:nvSpPr>
        <p:spPr>
          <a:xfrm>
            <a:off x="1409700" y="3726851"/>
            <a:ext cx="63245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chemeClr val="accent1"/>
                </a:solidFill>
                <a:hlinkClick r:id="rId5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https://033labcodes.github.io/awesome-hyperspectral-datasets/</a:t>
            </a:r>
            <a:endParaRPr lang="en-IN"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D1A7A024-2B76-FACA-5ECC-1F0AA2524304}"/>
              </a:ext>
            </a:extLst>
          </p:cNvPr>
          <p:cNvSpPr txBox="1"/>
          <p:nvPr/>
        </p:nvSpPr>
        <p:spPr>
          <a:xfrm>
            <a:off x="228600" y="934684"/>
            <a:ext cx="2152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Training Phase: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82E1C2-F5DB-6F37-E248-12262B906FD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8013" y="1368006"/>
            <a:ext cx="4427974" cy="3623558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37CA500-2F30-BCE7-A88E-AB00E3C3E6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4252" y="4378367"/>
            <a:ext cx="1714739" cy="476316"/>
          </a:xfrm>
          <a:prstGeom prst="rect">
            <a:avLst/>
          </a:prstGeom>
        </p:spPr>
      </p:pic>
      <p:pic>
        <p:nvPicPr>
          <p:cNvPr id="16" name="Picture 1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E763542-E6A0-5133-E22D-2FD047BBCA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224" y="4507734"/>
            <a:ext cx="1714739" cy="476316"/>
          </a:xfrm>
          <a:prstGeom prst="rect">
            <a:avLst/>
          </a:prstGeom>
        </p:spPr>
      </p:pic>
      <p:sp>
        <p:nvSpPr>
          <p:cNvPr id="6" name="object 2">
            <a:extLst>
              <a:ext uri="{FF2B5EF4-FFF2-40B4-BE49-F238E27FC236}">
                <a16:creationId xmlns:a16="http://schemas.microsoft.com/office/drawing/2014/main" id="{918EA64E-3D65-05E5-925D-B9DA6402FF6B}"/>
              </a:ext>
            </a:extLst>
          </p:cNvPr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r>
              <a:rPr kumimoji="0" lang="en-IN" sz="33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                             Project Pipeline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FDFD094E-0BD3-F3D4-3BCE-05ECED8FD494}"/>
              </a:ext>
            </a:extLst>
          </p:cNvPr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r>
              <a:rPr kumimoji="0" lang="en-IN" sz="3300" b="1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                                  Project Pipeline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DFBFD5-3337-FC44-D48B-BF7AE1C2C83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7000" y="1495631"/>
            <a:ext cx="4354407" cy="3429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FFB0FF3-35FD-BDAD-859A-B3A633885A55}"/>
              </a:ext>
            </a:extLst>
          </p:cNvPr>
          <p:cNvSpPr txBox="1"/>
          <p:nvPr/>
        </p:nvSpPr>
        <p:spPr>
          <a:xfrm>
            <a:off x="152400" y="1001339"/>
            <a:ext cx="23622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/>
              <a:t>Testing Phase:</a:t>
            </a:r>
          </a:p>
        </p:txBody>
      </p:sp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63DD4D4-1EC3-97D0-E4DD-53D305196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600" y="4411609"/>
            <a:ext cx="1714739" cy="476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865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2"/>
              <p:cNvSpPr txBox="1"/>
              <p:nvPr/>
            </p:nvSpPr>
            <p:spPr>
              <a:xfrm>
                <a:off x="228600" y="914705"/>
                <a:ext cx="8534400" cy="4253087"/>
              </a:xfrm>
              <a:prstGeom prst="rect">
                <a:avLst/>
              </a:prstGeom>
            </p:spPr>
            <p:txBody>
              <a:bodyPr vert="horz" wrap="square" lIns="0" tIns="46355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365"/>
                  </a:spcBef>
                  <a:tabLst>
                    <a:tab pos="421640" algn="l"/>
                  </a:tabLst>
                </a:pPr>
                <a:r>
                  <a:rPr lang="en-IN" sz="2000" b="1" dirty="0"/>
                  <a:t>SAM (Spectral Angle Mapper):</a:t>
                </a:r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Measures angular difference between spectral vectors.</a:t>
                </a:r>
                <a:br>
                  <a:rPr lang="en-IN" sz="2000" dirty="0"/>
                </a:br>
                <a14:m>
                  <m:oMath xmlns:m="http://schemas.openxmlformats.org/officeDocument/2006/math">
                    <m:r>
                      <a:rPr lang="es-ES" sz="2000" i="1" smtClean="0">
                        <a:latin typeface="Cambria Math" panose="02040503050406030204" pitchFamily="18" charset="0"/>
                      </a:rPr>
                      <m:t>𝑆𝐴𝑀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^−1((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)/(∥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∥∥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s-ES" sz="2000" i="1" smtClean="0">
                        <a:latin typeface="Cambria Math" panose="02040503050406030204" pitchFamily="18" charset="0"/>
                      </a:rPr>
                      <m:t>∥))</m:t>
                    </m:r>
                  </m:oMath>
                </a14:m>
                <a:endParaRPr lang="en-IN" sz="2000" spc="-10" dirty="0">
                  <a:latin typeface="Arial MT"/>
                </a:endParaRPr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The Range of SAM is 0 ≤ SAM ≤ </a:t>
                </a:r>
                <a:r>
                  <a:rPr lang="el-GR" sz="2000" dirty="0"/>
                  <a:t>π.</a:t>
                </a:r>
              </a:p>
              <a:p>
                <a:pPr marL="12700">
                  <a:lnSpc>
                    <a:spcPct val="100000"/>
                  </a:lnSpc>
                  <a:spcBef>
                    <a:spcPts val="365"/>
                  </a:spcBef>
                  <a:tabLst>
                    <a:tab pos="421640" algn="l"/>
                  </a:tabLst>
                </a:pPr>
                <a:r>
                  <a:rPr lang="en-IN" sz="2000" b="1" dirty="0"/>
                  <a:t>SID (Spectral Information Divergence):</a:t>
                </a:r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Measures probabilistic divergence between spectra.</a:t>
                </a:r>
              </a:p>
              <a:p>
                <a:pPr marL="12700">
                  <a:lnSpc>
                    <a:spcPct val="100000"/>
                  </a:lnSpc>
                  <a:spcBef>
                    <a:spcPts val="365"/>
                  </a:spcBef>
                  <a:tabLst>
                    <a:tab pos="421640" algn="l"/>
                  </a:tabLst>
                </a:pPr>
                <a:r>
                  <a:rPr lang="en-IN" sz="2000" dirty="0"/>
                  <a:t>                                  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𝑆𝐼𝐷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)=∑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)​+∑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IN" sz="2000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)​</m:t>
                    </m:r>
                  </m:oMath>
                </a14:m>
                <a:endParaRPr lang="en-IN" sz="2000" dirty="0"/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The Range of SID is ≥ 0.</a:t>
                </a:r>
              </a:p>
              <a:p>
                <a:pPr marL="12700">
                  <a:lnSpc>
                    <a:spcPct val="100000"/>
                  </a:lnSpc>
                  <a:spcBef>
                    <a:spcPts val="365"/>
                  </a:spcBef>
                  <a:tabLst>
                    <a:tab pos="421640" algn="l"/>
                  </a:tabLst>
                </a:pPr>
                <a:r>
                  <a:rPr lang="en-IN" sz="2000" b="1" dirty="0"/>
                  <a:t>SCC (Spectral Correlation Coefficient):</a:t>
                </a:r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Measures correlation between spectral shapes.</a:t>
                </a:r>
              </a:p>
              <a:p>
                <a:pPr marL="12700">
                  <a:lnSpc>
                    <a:spcPct val="100000"/>
                  </a:lnSpc>
                  <a:spcBef>
                    <a:spcPts val="365"/>
                  </a:spcBef>
                  <a:tabLst>
                    <a:tab pos="421640" algn="l"/>
                  </a:tabLst>
                </a:pPr>
                <a:r>
                  <a:rPr lang="en-IN" sz="2000" dirty="0"/>
                  <a:t>                   </a:t>
                </a:r>
                <a14:m>
                  <m:oMath xmlns:m="http://schemas.openxmlformats.org/officeDocument/2006/math"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𝑆𝐶𝐶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)= (∑(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ˉ)(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ˉ​))/(∑(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ˉ)^2∑(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IN" sz="2000" i="1" dirty="0" smtClean="0">
                        <a:latin typeface="Cambria Math" panose="02040503050406030204" pitchFamily="18" charset="0"/>
                      </a:rPr>
                      <m:t>ˉ​)^2​)​</m:t>
                    </m:r>
                  </m:oMath>
                </a14:m>
                <a:endParaRPr lang="en-IN" sz="2000" dirty="0"/>
              </a:p>
              <a:p>
                <a:pPr marL="298450" indent="-285750">
                  <a:lnSpc>
                    <a:spcPct val="100000"/>
                  </a:lnSpc>
                  <a:spcBef>
                    <a:spcPts val="365"/>
                  </a:spcBef>
                  <a:buFont typeface="Wingdings" panose="05000000000000000000" pitchFamily="2" charset="2"/>
                  <a:buChar char="Ø"/>
                  <a:tabLst>
                    <a:tab pos="421640" algn="l"/>
                  </a:tabLst>
                </a:pPr>
                <a:r>
                  <a:rPr lang="en-IN" sz="2000" dirty="0"/>
                  <a:t>The Range of SCC is −1 ≤ SCC ≤ 1.</a:t>
                </a:r>
                <a:endParaRPr lang="en-IN" sz="2000" dirty="0">
                  <a:latin typeface="Arial MT"/>
                  <a:cs typeface="Arial MT"/>
                </a:endParaRPr>
              </a:p>
            </p:txBody>
          </p:sp>
        </mc:Choice>
        <mc:Fallback xmlns="">
          <p:sp>
            <p:nvSpPr>
              <p:cNvPr id="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914705"/>
                <a:ext cx="8534400" cy="4253087"/>
              </a:xfrm>
              <a:prstGeom prst="rect">
                <a:avLst/>
              </a:prstGeom>
              <a:blipFill>
                <a:blip r:embed="rId3"/>
                <a:stretch>
                  <a:fillRect l="-1714" t="-716" b="-272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object 3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96725" y="322889"/>
            <a:ext cx="596874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b="1" dirty="0"/>
              <a:t>SPECTRAL SIMILARITY METRICS</a:t>
            </a:r>
            <a:endParaRPr b="1" spc="-1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582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0" y="113139"/>
            <a:ext cx="9144000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28D508-12DD-7EF6-AB02-FEDCF176840C}"/>
              </a:ext>
            </a:extLst>
          </p:cNvPr>
          <p:cNvSpPr txBox="1"/>
          <p:nvPr/>
        </p:nvSpPr>
        <p:spPr>
          <a:xfrm>
            <a:off x="0" y="796623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Ma</a:t>
            </a:r>
            <a:r>
              <a:rPr lang="en-IN" b="1" dirty="0" err="1"/>
              <a:t>terial</a:t>
            </a:r>
            <a:r>
              <a:rPr lang="en-IN" b="1" dirty="0"/>
              <a:t> vs Shadow Spectral Signatures:</a:t>
            </a:r>
            <a:endParaRPr lang="en-IN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A3E4247-2437-E012-6DEF-97B7BD0E4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781" y="1167438"/>
            <a:ext cx="4196745" cy="27421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49EE954-6423-E674-96A2-A7433D10AD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7200" y="1165955"/>
            <a:ext cx="4243589" cy="2782060"/>
          </a:xfrm>
          <a:prstGeom prst="rect">
            <a:avLst/>
          </a:prstGeom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BE16DAC-13F3-1651-5231-DB900F69AA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2694861"/>
              </p:ext>
            </p:extLst>
          </p:nvPr>
        </p:nvGraphicFramePr>
        <p:xfrm>
          <a:off x="304800" y="4121747"/>
          <a:ext cx="8382000" cy="975928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1113269892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665967712"/>
                    </a:ext>
                  </a:extLst>
                </a:gridCol>
              </a:tblGrid>
              <a:tr h="975928"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Most material spectra follow a consistent increasing spectral signature, indicating stable material reflectance across bands.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Shadow spectral show significantly reduced spectral magnitude compared to material spectral.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6848319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A414203E-EEB6-3DC0-81B7-51A5250B8955}"/>
              </a:ext>
            </a:extLst>
          </p:cNvPr>
          <p:cNvSpPr txBox="1"/>
          <p:nvPr/>
        </p:nvSpPr>
        <p:spPr>
          <a:xfrm>
            <a:off x="1690572" y="3724951"/>
            <a:ext cx="11211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3a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AC20D8-DEF9-69D1-D498-21472529DEC5}"/>
              </a:ext>
            </a:extLst>
          </p:cNvPr>
          <p:cNvSpPr txBox="1"/>
          <p:nvPr/>
        </p:nvSpPr>
        <p:spPr>
          <a:xfrm>
            <a:off x="5896905" y="3752415"/>
            <a:ext cx="118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3b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737B2D35-D698-E3F0-CB8D-94419EABA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D7C0F69-178A-2A2A-417D-8711F02FDF15}"/>
              </a:ext>
            </a:extLst>
          </p:cNvPr>
          <p:cNvSpPr/>
          <p:nvPr/>
        </p:nvSpPr>
        <p:spPr>
          <a:xfrm>
            <a:off x="0" y="4582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E4205D00-C601-1C43-B5FF-4E0CFFC6C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3139"/>
            <a:ext cx="9144000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E952AA4-586F-19A1-8070-42A35490C3E1}"/>
              </a:ext>
            </a:extLst>
          </p:cNvPr>
          <p:cNvSpPr txBox="1"/>
          <p:nvPr/>
        </p:nvSpPr>
        <p:spPr>
          <a:xfrm>
            <a:off x="0" y="704955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SAM,SCC,SID Masks</a:t>
            </a:r>
            <a:r>
              <a:rPr lang="en-IN" b="1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43A75E-61B8-BAE0-D8AC-9604E6292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078096"/>
            <a:ext cx="2624995" cy="26249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C82EE9-E811-C8D5-FE9A-D523E72664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9503" y="1074286"/>
            <a:ext cx="2624994" cy="26249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7A26027-0672-9449-CD68-0DC57B3E1D9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6607" y="1074287"/>
            <a:ext cx="2624993" cy="26249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CA79FE6-0AE2-EEE8-CD6C-C44B219237F3}"/>
              </a:ext>
            </a:extLst>
          </p:cNvPr>
          <p:cNvSpPr txBox="1"/>
          <p:nvPr/>
        </p:nvSpPr>
        <p:spPr>
          <a:xfrm>
            <a:off x="76200" y="4153392"/>
            <a:ext cx="86867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Each similarity metric classifies pixels differently under shadow regions.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Individual masks show some misclassifications, especially in complex shadow areas.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B4F724-A71A-AD9A-3A49-4D5BC6720F9E}"/>
              </a:ext>
            </a:extLst>
          </p:cNvPr>
          <p:cNvSpPr txBox="1"/>
          <p:nvPr/>
        </p:nvSpPr>
        <p:spPr>
          <a:xfrm>
            <a:off x="609600" y="3741670"/>
            <a:ext cx="110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4a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7F0239-D45E-B393-B1D5-CFD67939E553}"/>
              </a:ext>
            </a:extLst>
          </p:cNvPr>
          <p:cNvSpPr txBox="1"/>
          <p:nvPr/>
        </p:nvSpPr>
        <p:spPr>
          <a:xfrm>
            <a:off x="3886200" y="3741670"/>
            <a:ext cx="1182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4b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37725C9-7567-6AF7-0729-059507F9841B}"/>
              </a:ext>
            </a:extLst>
          </p:cNvPr>
          <p:cNvSpPr txBox="1"/>
          <p:nvPr/>
        </p:nvSpPr>
        <p:spPr>
          <a:xfrm>
            <a:off x="6934200" y="3741670"/>
            <a:ext cx="122849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4c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91030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BBB4ACFA-102D-B5BD-B884-3699C4E1F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9608F2B-0753-F22D-4360-A2C77DAB3477}"/>
              </a:ext>
            </a:extLst>
          </p:cNvPr>
          <p:cNvSpPr/>
          <p:nvPr/>
        </p:nvSpPr>
        <p:spPr>
          <a:xfrm>
            <a:off x="0" y="4582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D0C85D05-E8FA-637C-C2D9-7D1EE737E9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3139"/>
            <a:ext cx="9144000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1163C18-3235-518C-39AC-B72E5569B66A}"/>
              </a:ext>
            </a:extLst>
          </p:cNvPr>
          <p:cNvSpPr txBox="1"/>
          <p:nvPr/>
        </p:nvSpPr>
        <p:spPr>
          <a:xfrm>
            <a:off x="0" y="796623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Fusion vs Ground Truth Masks</a:t>
            </a:r>
            <a:r>
              <a:rPr lang="en-IN" b="1" dirty="0"/>
              <a:t>: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CFB357C-42BB-D846-3384-9238C6804A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06" y="1165955"/>
            <a:ext cx="2548795" cy="254879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9865A6-F607-318D-3BA0-F1C3752BC3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165955"/>
            <a:ext cx="2548795" cy="254879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2AB9D69-A497-6012-5110-1EF347D77D45}"/>
              </a:ext>
            </a:extLst>
          </p:cNvPr>
          <p:cNvSpPr txBox="1"/>
          <p:nvPr/>
        </p:nvSpPr>
        <p:spPr>
          <a:xfrm>
            <a:off x="152400" y="4074113"/>
            <a:ext cx="872027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Fusion output aligns more closely with ground truth compared to individual metrics.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False detections are reduced by combining SAM, SID, and SCC decisions.</a:t>
            </a:r>
            <a:endParaRPr lang="en-IN" sz="20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197F03-2ADC-6712-695C-D1903151100B}"/>
              </a:ext>
            </a:extLst>
          </p:cNvPr>
          <p:cNvSpPr txBox="1"/>
          <p:nvPr/>
        </p:nvSpPr>
        <p:spPr>
          <a:xfrm>
            <a:off x="3632183" y="1657945"/>
            <a:ext cx="1371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prstClr val="black"/>
                </a:solidFill>
                <a:latin typeface="Arial MT"/>
                <a:cs typeface="Arial MT"/>
              </a:rPr>
              <a:t>Shadow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EBD52BF-41C6-3E5A-5809-1607B9F3E3FE}"/>
              </a:ext>
            </a:extLst>
          </p:cNvPr>
          <p:cNvSpPr txBox="1"/>
          <p:nvPr/>
        </p:nvSpPr>
        <p:spPr>
          <a:xfrm>
            <a:off x="3708383" y="2123676"/>
            <a:ext cx="12192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dirty="0">
                <a:solidFill>
                  <a:prstClr val="black"/>
                </a:solidFill>
                <a:latin typeface="Arial MT"/>
                <a:cs typeface="Arial MT"/>
              </a:rPr>
              <a:t>Material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3F4337-80D0-5499-AADD-16B2EB341550}"/>
              </a:ext>
            </a:extLst>
          </p:cNvPr>
          <p:cNvSpPr txBox="1"/>
          <p:nvPr/>
        </p:nvSpPr>
        <p:spPr>
          <a:xfrm>
            <a:off x="3708383" y="2589407"/>
            <a:ext cx="17272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MT"/>
                <a:ea typeface="+mn-ea"/>
                <a:cs typeface="Arial MT"/>
              </a:rPr>
              <a:t>Non-Material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16FA58C-554A-62BE-5EE9-E4FCEFAD5E85}"/>
                  </a:ext>
                </a:extLst>
              </p14:cNvPr>
              <p14:cNvContentPartPr/>
              <p14:nvPr/>
            </p14:nvContentPartPr>
            <p14:xfrm>
              <a:off x="5397311" y="183810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16FA58C-554A-62BE-5EE9-E4FCEFAD5E8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43311" y="173010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0CFCFF1C-5679-EC3B-90C9-9B25C2068B11}"/>
                  </a:ext>
                </a:extLst>
              </p14:cNvPr>
              <p14:cNvContentPartPr/>
              <p14:nvPr/>
            </p14:nvContentPartPr>
            <p14:xfrm>
              <a:off x="5396951" y="2308162"/>
              <a:ext cx="360" cy="3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0CFCFF1C-5679-EC3B-90C9-9B25C2068B1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342951" y="220016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8179E28-5FD7-C191-1E46-9B539C5D1429}"/>
                  </a:ext>
                </a:extLst>
              </p14:cNvPr>
              <p14:cNvContentPartPr/>
              <p14:nvPr/>
            </p14:nvContentPartPr>
            <p14:xfrm>
              <a:off x="5396591" y="277407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8179E28-5FD7-C191-1E46-9B539C5D142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342591" y="2666073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A2DB3C2F-FA0F-73E7-654B-1B905D71C5DB}"/>
                  </a:ext>
                </a:extLst>
              </p14:cNvPr>
              <p14:cNvContentPartPr/>
              <p14:nvPr/>
            </p14:nvContentPartPr>
            <p14:xfrm>
              <a:off x="3631823" y="1837740"/>
              <a:ext cx="360" cy="3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A2DB3C2F-FA0F-73E7-654B-1B905D71C5D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577823" y="1729740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6E3072BE-FA68-6B95-1D86-997EF4B4F06E}"/>
                  </a:ext>
                </a:extLst>
              </p14:cNvPr>
              <p14:cNvContentPartPr/>
              <p14:nvPr/>
            </p14:nvContentPartPr>
            <p14:xfrm>
              <a:off x="3631463" y="2308162"/>
              <a:ext cx="360" cy="36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6E3072BE-FA68-6B95-1D86-997EF4B4F06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577463" y="2200162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F0E3467-AD0E-EA63-B72B-B9B11297657C}"/>
                  </a:ext>
                </a:extLst>
              </p14:cNvPr>
              <p14:cNvContentPartPr/>
              <p14:nvPr/>
            </p14:nvContentPartPr>
            <p14:xfrm>
              <a:off x="3631463" y="2774073"/>
              <a:ext cx="360" cy="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F0E3467-AD0E-EA63-B72B-B9B11297657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577463" y="2666073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E51D4AB7-A4E5-78EF-6EDC-CD8ADE0EEABB}"/>
              </a:ext>
            </a:extLst>
          </p:cNvPr>
          <p:cNvSpPr txBox="1"/>
          <p:nvPr/>
        </p:nvSpPr>
        <p:spPr>
          <a:xfrm>
            <a:off x="1449288" y="3740305"/>
            <a:ext cx="110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5a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2CAED5-0B44-A961-4358-496F4EAD81B5}"/>
              </a:ext>
            </a:extLst>
          </p:cNvPr>
          <p:cNvSpPr txBox="1"/>
          <p:nvPr/>
        </p:nvSpPr>
        <p:spPr>
          <a:xfrm>
            <a:off x="6513042" y="3736123"/>
            <a:ext cx="11051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5b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2441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4F5990-A482-97D9-B840-71411C6A9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B882B8D1-2E0B-2E49-36DA-FA798BD92B07}"/>
              </a:ext>
            </a:extLst>
          </p:cNvPr>
          <p:cNvSpPr/>
          <p:nvPr/>
        </p:nvSpPr>
        <p:spPr>
          <a:xfrm>
            <a:off x="0" y="4582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010A87DE-8EDA-8B71-8C90-AC3C16ADD0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13139"/>
            <a:ext cx="9144000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FDB6CFA-B182-1013-4049-9C488A001830}"/>
              </a:ext>
            </a:extLst>
          </p:cNvPr>
          <p:cNvSpPr txBox="1"/>
          <p:nvPr/>
        </p:nvSpPr>
        <p:spPr>
          <a:xfrm>
            <a:off x="0" y="796623"/>
            <a:ext cx="4876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True </a:t>
            </a:r>
            <a:r>
              <a:rPr lang="en-US" b="1" dirty="0" err="1"/>
              <a:t>Colour</a:t>
            </a:r>
            <a:r>
              <a:rPr lang="en-US" b="1" dirty="0"/>
              <a:t> and overlay Masks</a:t>
            </a:r>
            <a:r>
              <a:rPr lang="en-IN" b="1" dirty="0"/>
              <a:t>: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CF1869-EE61-5280-FF98-F2B290B767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2" y="1165955"/>
            <a:ext cx="2209799" cy="22097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95B482-011D-3FD3-9FBE-78C3DFF919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8800" y="1165956"/>
            <a:ext cx="2209798" cy="220979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DF3EF2F-DE38-F903-CBB3-B64ECB1937B5}"/>
              </a:ext>
            </a:extLst>
          </p:cNvPr>
          <p:cNvSpPr txBox="1"/>
          <p:nvPr/>
        </p:nvSpPr>
        <p:spPr>
          <a:xfrm>
            <a:off x="228600" y="3836755"/>
            <a:ext cx="86868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fusion-based classification mask is overlaid on the pseudo-RGB image to visually measure detection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Material regions remain constantly detected even under shadow, showing shadow-invariant behavior.</a:t>
            </a:r>
            <a:endParaRPr lang="en-IN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CB40B7-D5F3-A926-AC10-1BDA77780791}"/>
              </a:ext>
            </a:extLst>
          </p:cNvPr>
          <p:cNvSpPr txBox="1"/>
          <p:nvPr/>
        </p:nvSpPr>
        <p:spPr>
          <a:xfrm>
            <a:off x="1847386" y="3434133"/>
            <a:ext cx="110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6a</a:t>
            </a:r>
            <a:endParaRPr lang="en-IN" b="1" dirty="0">
              <a:solidFill>
                <a:schemeClr val="accent6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1BEE7E-CC1F-703F-4D24-09E87C3937C1}"/>
              </a:ext>
            </a:extLst>
          </p:cNvPr>
          <p:cNvSpPr txBox="1"/>
          <p:nvPr/>
        </p:nvSpPr>
        <p:spPr>
          <a:xfrm>
            <a:off x="6190787" y="3434133"/>
            <a:ext cx="11058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accent6"/>
                </a:solidFill>
              </a:rPr>
              <a:t>Figure 6b</a:t>
            </a:r>
            <a:endParaRPr lang="en-IN" b="1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4434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587626" y="322889"/>
            <a:ext cx="596874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lang="en-IN" b="1" dirty="0"/>
              <a:t>Performance Metrics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3018726"/>
              </p:ext>
            </p:extLst>
          </p:nvPr>
        </p:nvGraphicFramePr>
        <p:xfrm>
          <a:off x="190500" y="1200150"/>
          <a:ext cx="8763000" cy="2873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09601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Methods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410845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    Accuracy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marR="11303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Precision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Re-Call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F1 Score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5921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SAM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0.744</a:t>
                      </a:r>
                      <a:endParaRPr sz="1800" b="1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0.001</a:t>
                      </a:r>
                      <a:endParaRPr sz="1800" b="1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0.68</a:t>
                      </a:r>
                      <a:endParaRPr sz="1800" b="1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0.003</a:t>
                      </a:r>
                      <a:endParaRPr sz="1800" b="1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5921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SID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0.740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0.001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 0.68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0.003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5921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chemeClr val="tx1"/>
                          </a:solidFill>
                          <a:latin typeface="Arial MT"/>
                          <a:cs typeface="Arial MT"/>
                        </a:rPr>
                        <a:t>SCC</a:t>
                      </a:r>
                      <a:endParaRPr sz="1800" b="1" dirty="0">
                        <a:solidFill>
                          <a:schemeClr val="tx1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0.310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0.0004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0.902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chemeClr val="tx1"/>
                          </a:solidFill>
                          <a:latin typeface="Courier New"/>
                          <a:cs typeface="Courier New"/>
                        </a:rPr>
                        <a:t>0.0009</a:t>
                      </a:r>
                      <a:endParaRPr sz="1800" dirty="0">
                        <a:solidFill>
                          <a:schemeClr val="tx1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921">
                <a:tc>
                  <a:txBody>
                    <a:bodyPr/>
                    <a:lstStyle/>
                    <a:p>
                      <a:pPr marL="57150" algn="ctr">
                        <a:lnSpc>
                          <a:spcPct val="100000"/>
                        </a:lnSpc>
                        <a:spcBef>
                          <a:spcPts val="395"/>
                        </a:spcBef>
                      </a:pPr>
                      <a:r>
                        <a:rPr lang="en-US" sz="1800" b="1" spc="-10" dirty="0">
                          <a:solidFill>
                            <a:srgbClr val="7030A0"/>
                          </a:solidFill>
                          <a:latin typeface="Arial MT"/>
                          <a:cs typeface="Arial MT"/>
                        </a:rPr>
                        <a:t>Fusion</a:t>
                      </a:r>
                      <a:endParaRPr sz="1800" b="1" dirty="0">
                        <a:solidFill>
                          <a:srgbClr val="7030A0"/>
                        </a:solidFill>
                        <a:latin typeface="Arial MT"/>
                        <a:cs typeface="Arial MT"/>
                      </a:endParaRPr>
                    </a:p>
                  </a:txBody>
                  <a:tcPr marL="0" marR="0" marT="501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rgbClr val="7030A0"/>
                          </a:solidFill>
                          <a:latin typeface="Courier New"/>
                          <a:cs typeface="Courier New"/>
                        </a:rPr>
                        <a:t>0.784</a:t>
                      </a:r>
                      <a:endParaRPr sz="1800" dirty="0">
                        <a:solidFill>
                          <a:srgbClr val="7030A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rgbClr val="7030A0"/>
                          </a:solidFill>
                          <a:latin typeface="Courier New"/>
                          <a:cs typeface="Courier New"/>
                        </a:rPr>
                        <a:t> 0.001</a:t>
                      </a:r>
                      <a:endParaRPr sz="1800" dirty="0">
                        <a:solidFill>
                          <a:srgbClr val="7030A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10" dirty="0">
                          <a:solidFill>
                            <a:srgbClr val="7030A0"/>
                          </a:solidFill>
                          <a:latin typeface="Courier New"/>
                          <a:cs typeface="Courier New"/>
                        </a:rPr>
                        <a:t>0.741</a:t>
                      </a:r>
                      <a:endParaRPr sz="1800" dirty="0">
                        <a:solidFill>
                          <a:srgbClr val="7030A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IN" sz="1800" b="1" spc="-20" dirty="0">
                          <a:solidFill>
                            <a:srgbClr val="7030A0"/>
                          </a:solidFill>
                          <a:latin typeface="Courier New"/>
                          <a:cs typeface="Courier New"/>
                        </a:rPr>
                        <a:t>0.003</a:t>
                      </a:r>
                      <a:endParaRPr sz="1800" dirty="0">
                        <a:solidFill>
                          <a:srgbClr val="7030A0"/>
                        </a:solidFill>
                        <a:latin typeface="Courier New"/>
                        <a:cs typeface="Courier New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1175208"/>
            <a:ext cx="8241665" cy="338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34290" indent="-4572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69900" algn="l"/>
              </a:tabLst>
            </a:pPr>
            <a:r>
              <a:rPr lang="en-US" sz="2400" dirty="0">
                <a:cs typeface="Arial MT"/>
              </a:rPr>
              <a:t>Spectral similarity between shadow and material regions made single-metric classification unreliable</a:t>
            </a:r>
            <a:r>
              <a:rPr sz="2400" spc="-10" dirty="0">
                <a:cs typeface="Arial MT"/>
              </a:rPr>
              <a:t>.</a:t>
            </a:r>
            <a:endParaRPr sz="2400" dirty="0">
              <a:cs typeface="Arial MT"/>
            </a:endParaRPr>
          </a:p>
          <a:p>
            <a:pPr marL="469900" marR="5080" indent="-457200">
              <a:lnSpc>
                <a:spcPct val="114999"/>
              </a:lnSpc>
              <a:buFont typeface="MS PGothic"/>
              <a:buChar char="➢"/>
              <a:tabLst>
                <a:tab pos="469900" algn="l"/>
              </a:tabLst>
            </a:pPr>
            <a:r>
              <a:rPr lang="en-US" sz="2400" dirty="0">
                <a:cs typeface="Arial MT"/>
              </a:rPr>
              <a:t>Manual pixel selection for shadow and material samples was time-consuming</a:t>
            </a:r>
            <a:r>
              <a:rPr sz="2400" spc="-10" dirty="0">
                <a:cs typeface="Arial MT"/>
              </a:rPr>
              <a:t>.</a:t>
            </a:r>
            <a:endParaRPr sz="2400" dirty="0">
              <a:cs typeface="Arial MT"/>
            </a:endParaRPr>
          </a:p>
          <a:p>
            <a:pPr marL="469900" marR="73025" indent="-457200">
              <a:lnSpc>
                <a:spcPct val="114999"/>
              </a:lnSpc>
              <a:buFont typeface="MS PGothic"/>
              <a:buChar char="➢"/>
              <a:tabLst>
                <a:tab pos="469900" algn="l"/>
              </a:tabLst>
            </a:pPr>
            <a:r>
              <a:rPr lang="en-US" sz="2400" dirty="0">
                <a:cs typeface="Arial MT"/>
              </a:rPr>
              <a:t>Adaptive threshold selection was challenging due to changing spectral distributions across scenes.</a:t>
            </a:r>
          </a:p>
          <a:p>
            <a:pPr marL="469900" marR="73025" indent="-457200">
              <a:lnSpc>
                <a:spcPct val="114999"/>
              </a:lnSpc>
              <a:buFont typeface="MS PGothic"/>
              <a:buChar char="➢"/>
              <a:tabLst>
                <a:tab pos="469900" algn="l"/>
              </a:tabLst>
            </a:pPr>
            <a:r>
              <a:rPr lang="en-US" sz="2400" dirty="0">
                <a:cs typeface="Arial MT"/>
              </a:rPr>
              <a:t>Class imbalance between shadow and material pixels affected evaluation and required multiple metrics.</a:t>
            </a:r>
            <a:endParaRPr sz="2400" dirty="0">
              <a:cs typeface="Arial MT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26" y="322889"/>
            <a:ext cx="596874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dirty="0"/>
              <a:t>Challenges</a:t>
            </a:r>
            <a:r>
              <a:rPr b="1" spc="5" dirty="0"/>
              <a:t> </a:t>
            </a:r>
            <a:endParaRPr b="1"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9424" y="1169620"/>
            <a:ext cx="8068309" cy="29866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94665" marR="5080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US" sz="2400" dirty="0"/>
              <a:t>Spectral similarity metrics such as SAM, SID, and SCC effectively reduced the impact of light variations caused by shadows.</a:t>
            </a:r>
          </a:p>
          <a:p>
            <a:pPr marL="494665" marR="5080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US" sz="2400" dirty="0">
                <a:cs typeface="Arial MT"/>
              </a:rPr>
              <a:t>Fusion of multiple similarity metrics provided more reliable results than individual metric-based classification.</a:t>
            </a:r>
          </a:p>
          <a:p>
            <a:pPr marL="494665" marR="5080" indent="-482600">
              <a:lnSpc>
                <a:spcPct val="114999"/>
              </a:lnSpc>
              <a:spcBef>
                <a:spcPts val="100"/>
              </a:spcBef>
              <a:buFont typeface="MS PGothic"/>
              <a:buChar char="➢"/>
              <a:tabLst>
                <a:tab pos="494665" algn="l"/>
              </a:tabLst>
            </a:pPr>
            <a:r>
              <a:rPr lang="en-US" sz="2400" spc="-10" dirty="0">
                <a:cs typeface="Arial MT"/>
              </a:rPr>
              <a:t>The proposed approach demonstrated accurate separation of shadow and material regions under different light conditions.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255575"/>
            <a:ext cx="9144000" cy="659130"/>
          </a:xfrm>
          <a:custGeom>
            <a:avLst/>
            <a:gdLst/>
            <a:ahLst/>
            <a:cxnLst/>
            <a:rect l="l" t="t" r="r" b="b"/>
            <a:pathLst>
              <a:path w="9144000" h="659130">
                <a:moveTo>
                  <a:pt x="9143999" y="658799"/>
                </a:moveTo>
                <a:lnTo>
                  <a:pt x="0" y="6587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658799"/>
                </a:lnTo>
                <a:close/>
              </a:path>
            </a:pathLst>
          </a:custGeom>
          <a:solidFill>
            <a:srgbClr val="A4C1F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87626" y="322889"/>
            <a:ext cx="5968748" cy="524503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0"/>
              </a:spcBef>
            </a:pPr>
            <a:r>
              <a:rPr b="1" spc="-10" dirty="0"/>
              <a:t>Conclusion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32451" y="2026729"/>
            <a:ext cx="5479097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0"/>
              </a:spcBef>
            </a:pPr>
            <a:r>
              <a:rPr sz="7000" b="1" spc="-755" dirty="0">
                <a:latin typeface="Tahoma"/>
                <a:cs typeface="Tahoma"/>
              </a:rPr>
              <a:t>Thank</a:t>
            </a:r>
            <a:r>
              <a:rPr sz="7000" b="1" spc="-475" dirty="0">
                <a:latin typeface="Tahoma"/>
                <a:cs typeface="Tahoma"/>
              </a:rPr>
              <a:t> </a:t>
            </a:r>
            <a:r>
              <a:rPr sz="7000" b="1" spc="-1205" dirty="0">
                <a:latin typeface="Tahoma"/>
                <a:cs typeface="Tahoma"/>
              </a:rPr>
              <a:t>you</a:t>
            </a:r>
            <a:r>
              <a:rPr lang="en-IN" sz="7000" b="1" spc="-1205" dirty="0">
                <a:latin typeface="Tahoma"/>
                <a:cs typeface="Tahoma"/>
              </a:rPr>
              <a:t> !</a:t>
            </a:r>
            <a:endParaRPr sz="7000" b="1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853</TotalTime>
  <Words>639</Words>
  <Application>Microsoft Office PowerPoint</Application>
  <PresentationFormat>On-screen Show (16:9)</PresentationFormat>
  <Paragraphs>125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MS PGothic</vt:lpstr>
      <vt:lpstr>Algerian</vt:lpstr>
      <vt:lpstr>Arial</vt:lpstr>
      <vt:lpstr>Arial MT</vt:lpstr>
      <vt:lpstr>Calibri</vt:lpstr>
      <vt:lpstr>Calibri Light</vt:lpstr>
      <vt:lpstr>Cambria Math</vt:lpstr>
      <vt:lpstr>Courier New</vt:lpstr>
      <vt:lpstr>Tahoma</vt:lpstr>
      <vt:lpstr>Wingdings</vt:lpstr>
      <vt:lpstr>Office Theme</vt:lpstr>
      <vt:lpstr>Shadow Invariant Material Detection Using Hyperspectral Images</vt:lpstr>
      <vt:lpstr>CONTENTS</vt:lpstr>
      <vt:lpstr>Introduction</vt:lpstr>
      <vt:lpstr>Aim</vt:lpstr>
      <vt:lpstr>Datasets</vt:lpstr>
      <vt:lpstr>PowerPoint Presentation</vt:lpstr>
      <vt:lpstr>PowerPoint Presentation</vt:lpstr>
      <vt:lpstr>SPECTRAL SIMILARITY METRICS</vt:lpstr>
      <vt:lpstr>Results</vt:lpstr>
      <vt:lpstr>Results</vt:lpstr>
      <vt:lpstr>Results</vt:lpstr>
      <vt:lpstr>Results</vt:lpstr>
      <vt:lpstr>Performance Metrics</vt:lpstr>
      <vt:lpstr>Challenges </vt:lpstr>
      <vt:lpstr>Conclusion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Project-2</dc:title>
  <dc:creator>SAJID SHAIK</dc:creator>
  <cp:lastModifiedBy>JEEVAN KUMAR AVISHAKULA</cp:lastModifiedBy>
  <cp:revision>15</cp:revision>
  <dcterms:created xsi:type="dcterms:W3CDTF">2025-12-21T19:00:40Z</dcterms:created>
  <dcterms:modified xsi:type="dcterms:W3CDTF">2026-06-02T10:35:00Z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2025-12-21T00:00:00Z</vt:filetime>
  </property>
  <property fmtid="{D5CDD505-2E9C-101B-9397-08002B2CF9AE}" pid="3" name="Creator">
    <vt:lpwstr>Google</vt:lpwstr>
  </property>
  <property fmtid="{D5CDD505-2E9C-101B-9397-08002B2CF9AE}" pid="4" name="LastSaved">
    <vt:filetime>2025-12-21T00:00:00Z</vt:filetime>
  </property>
</Properties>
</file>